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92440" y="0"/>
            <a:ext cx="4096512" cy="6858000"/>
          </a:xfrm>
          <a:prstGeom prst="rect">
            <a:avLst/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15400" y="1325880"/>
            <a:ext cx="2286000" cy="2286000"/>
          </a:xfrm>
          <a:prstGeom prst="ellipse">
            <a:avLst/>
          </a:prstGeom>
          <a:noFill/>
          <a:ln w="25400">
            <a:solidFill>
              <a:srgbClr val="3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17152" y="1627632"/>
            <a:ext cx="1682496" cy="1682496"/>
          </a:xfrm>
          <a:prstGeom prst="ellipse">
            <a:avLst/>
          </a:prstGeom>
          <a:noFill/>
          <a:ln w="25400">
            <a:solidFill>
              <a:srgbClr val="FF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1920240"/>
            <a:ext cx="1097280" cy="1097280"/>
          </a:xfrm>
          <a:prstGeom prst="ellipse">
            <a:avLst/>
          </a:prstGeom>
          <a:noFill/>
          <a:ln w="25400">
            <a:solidFill>
              <a:srgbClr val="62E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34856" y="2267712"/>
            <a:ext cx="18288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2100" b="1" i="0">
                <a:solidFill>
                  <a:srgbClr val="F2F7FF"/>
                </a:solidFill>
                <a:latin typeface="Aptos"/>
              </a:defRPr>
            </a:pPr>
            <a:r>
              <a:t>HTTP</a:t>
            </a:r>
          </a:p>
        </p:txBody>
      </p:sp>
      <p:sp>
        <p:nvSpPr>
          <p:cNvPr id="7" name="Oval 6"/>
          <p:cNvSpPr/>
          <p:nvPr/>
        </p:nvSpPr>
        <p:spPr>
          <a:xfrm>
            <a:off x="8412480" y="4663440"/>
            <a:ext cx="713232" cy="713232"/>
          </a:xfrm>
          <a:prstGeom prst="ellipse">
            <a:avLst/>
          </a:prstGeom>
          <a:solidFill>
            <a:srgbClr val="172D4F"/>
          </a:solidFill>
          <a:ln w="19050">
            <a:solidFill>
              <a:srgbClr val="3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489204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F2F7FF"/>
                </a:solidFill>
                <a:latin typeface="Aptos"/>
              </a:defRPr>
            </a:pPr>
            <a:r>
              <a:t>MAP</a:t>
            </a:r>
          </a:p>
        </p:txBody>
      </p:sp>
      <p:sp>
        <p:nvSpPr>
          <p:cNvPr id="9" name="Oval 8"/>
          <p:cNvSpPr/>
          <p:nvPr/>
        </p:nvSpPr>
        <p:spPr>
          <a:xfrm>
            <a:off x="9738360" y="4663440"/>
            <a:ext cx="713232" cy="713232"/>
          </a:xfrm>
          <a:prstGeom prst="ellipse">
            <a:avLst/>
          </a:prstGeom>
          <a:solidFill>
            <a:srgbClr val="172D4F"/>
          </a:solidFill>
          <a:ln w="19050">
            <a:solidFill>
              <a:srgbClr val="3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38360" y="489204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F2F7FF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1" name="Oval 10"/>
          <p:cNvSpPr/>
          <p:nvPr/>
        </p:nvSpPr>
        <p:spPr>
          <a:xfrm>
            <a:off x="11018520" y="4663440"/>
            <a:ext cx="713232" cy="713232"/>
          </a:xfrm>
          <a:prstGeom prst="ellipse">
            <a:avLst/>
          </a:prstGeom>
          <a:solidFill>
            <a:srgbClr val="172D4F"/>
          </a:solidFill>
          <a:ln w="19050">
            <a:solidFill>
              <a:srgbClr val="3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18520" y="4892040"/>
            <a:ext cx="7132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900" b="1" i="0">
                <a:solidFill>
                  <a:srgbClr val="F2F7FF"/>
                </a:solidFill>
                <a:latin typeface="Aptos"/>
              </a:defRPr>
            </a:pPr>
            <a:r>
              <a:t>REPORT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25712" y="5020056"/>
            <a:ext cx="585216" cy="0"/>
          </a:xfrm>
          <a:prstGeom prst="line">
            <a:avLst/>
          </a:prstGeom>
          <a:ln w="25400">
            <a:solidFill>
              <a:srgbClr val="31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451592" y="5020056"/>
            <a:ext cx="539496" cy="0"/>
          </a:xfrm>
          <a:prstGeom prst="line">
            <a:avLst/>
          </a:prstGeom>
          <a:ln w="25400">
            <a:solidFill>
              <a:srgbClr val="31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658368"/>
            <a:ext cx="6949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1" i="0">
                <a:solidFill>
                  <a:srgbClr val="31D8E5"/>
                </a:solidFill>
                <a:latin typeface="Aptos"/>
              </a:defRPr>
            </a:pPr>
            <a:r>
              <a:t>WEEK 07  /  CYBERSECURITY INTERNSHIP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417320"/>
            <a:ext cx="694944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F2F7FF"/>
                </a:solidFill>
                <a:latin typeface="Aptos"/>
              </a:defRPr>
            </a:pPr>
            <a:r>
              <a:t>WEB APPLICATION</a:t>
            </a:r>
            <a:br/>
            <a:r>
              <a:t>SECURITY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063240"/>
            <a:ext cx="67665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500" b="1" i="0">
                <a:solidFill>
                  <a:srgbClr val="FFB14A"/>
                </a:solidFill>
                <a:latin typeface="Aptos"/>
              </a:defRPr>
            </a:pPr>
            <a:r>
              <a:t>With Burp Suite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886200"/>
            <a:ext cx="672084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0" i="0">
                <a:solidFill>
                  <a:srgbClr val="A4B7D3"/>
                </a:solidFill>
                <a:latin typeface="Aptos"/>
              </a:defRPr>
            </a:pPr>
            <a:r>
              <a:t>From hidden attack surface to evidence-backed findings.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983480"/>
            <a:ext cx="1508760" cy="347472"/>
          </a:xfrm>
          <a:prstGeom prst="roundRect">
            <a:avLst>
              <a:gd name="adj" fmla="val 12000"/>
            </a:avLst>
          </a:prstGeom>
          <a:solidFill>
            <a:srgbClr val="17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" y="5020056"/>
            <a:ext cx="1399031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1" i="0">
                <a:solidFill>
                  <a:srgbClr val="31D8E5"/>
                </a:solidFill>
                <a:latin typeface="Aptos"/>
              </a:defRPr>
            </a:pPr>
            <a:r>
              <a:t>RECONNAISSANCE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23160" y="4983480"/>
            <a:ext cx="1508760" cy="347472"/>
          </a:xfrm>
          <a:prstGeom prst="roundRect">
            <a:avLst>
              <a:gd name="adj" fmla="val 12000"/>
            </a:avLst>
          </a:prstGeom>
          <a:solidFill>
            <a:srgbClr val="17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78024" y="5020056"/>
            <a:ext cx="1399031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1" i="0">
                <a:solidFill>
                  <a:srgbClr val="31D8E5"/>
                </a:solidFill>
                <a:latin typeface="Aptos"/>
              </a:defRPr>
            </a:pPr>
            <a:r>
              <a:t>INTERCEPTION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9080" y="4983480"/>
            <a:ext cx="1234440" cy="347472"/>
          </a:xfrm>
          <a:prstGeom prst="roundRect">
            <a:avLst>
              <a:gd name="adj" fmla="val 12000"/>
            </a:avLst>
          </a:prstGeom>
          <a:solidFill>
            <a:srgbClr val="17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23944" y="5020056"/>
            <a:ext cx="11247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1" i="0">
                <a:solidFill>
                  <a:srgbClr val="31D8E5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4983480"/>
            <a:ext cx="1280160" cy="347472"/>
          </a:xfrm>
          <a:prstGeom prst="roundRect">
            <a:avLst>
              <a:gd name="adj" fmla="val 12000"/>
            </a:avLst>
          </a:prstGeom>
          <a:solidFill>
            <a:srgbClr val="17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95544" y="5020056"/>
            <a:ext cx="1170431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1000" b="1" i="0">
                <a:solidFill>
                  <a:srgbClr val="31D8E5"/>
                </a:solidFill>
                <a:latin typeface="Aptos"/>
              </a:defRPr>
            </a:pPr>
            <a:r>
              <a:t>REPORTING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89320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0" i="0">
                <a:solidFill>
                  <a:srgbClr val="A4B7D3"/>
                </a:solidFill>
                <a:latin typeface="Aptos"/>
              </a:defRPr>
            </a:pPr>
            <a:r>
              <a:t>Prepared by: Krina Sorathiya  |  Primary tool: Burp Suite Community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1D8E5"/>
                </a:solidFill>
                <a:latin typeface="Aptos"/>
              </a:defRPr>
            </a:pPr>
            <a:r>
              <a:t>01 /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900" b="1" i="0">
                <a:solidFill>
                  <a:srgbClr val="F2F7FF"/>
                </a:solidFill>
                <a:latin typeface="Aptos"/>
              </a:defRPr>
            </a:pPr>
            <a:r>
              <a:t>A security test is a chain—not a single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The goal is to understand application behavior, validate weaknesses, and communicate what the evidence proves.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A4B7D3"/>
                </a:solidFill>
                <a:latin typeface="Aptos"/>
              </a:defRPr>
            </a:pPr>
            <a:r>
              <a:t>WEEK 7  •  WEB APPLICATION SECURITY TESTING  •  AUTHORIZED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31D8E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2514600" cy="214884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542032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31D8E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01752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2F7FF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493008"/>
            <a:ext cx="205740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Map pages, parameters, forms, sessions, and endpoints.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18688" y="3383280"/>
            <a:ext cx="283464" cy="0"/>
          </a:xfrm>
          <a:prstGeom prst="line">
            <a:avLst/>
          </a:prstGeom>
          <a:ln w="25400">
            <a:solidFill>
              <a:srgbClr val="31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2331720"/>
            <a:ext cx="2514600" cy="214884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2542032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FFB14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301752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2F7FF"/>
                </a:solidFill>
                <a:latin typeface="Aptos"/>
              </a:defRPr>
            </a:pPr>
            <a:r>
              <a:t>INTERCEPT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3493008"/>
            <a:ext cx="205740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Observe browser-to-server HTTP traffic in Burp Proxy.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9048" y="3383280"/>
            <a:ext cx="283464" cy="0"/>
          </a:xfrm>
          <a:prstGeom prst="line">
            <a:avLst/>
          </a:prstGeom>
          <a:ln w="25400">
            <a:solidFill>
              <a:srgbClr val="FFB1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46520" y="2331720"/>
            <a:ext cx="2514600" cy="214884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2542032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62E0A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301752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2F7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3493008"/>
            <a:ext cx="205740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Change one input at a time and compare responses.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79408" y="3383280"/>
            <a:ext cx="283464" cy="0"/>
          </a:xfrm>
          <a:prstGeom prst="line">
            <a:avLst/>
          </a:prstGeom>
          <a:ln w="25400">
            <a:solidFill>
              <a:srgbClr val="62E0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326880" y="2331720"/>
            <a:ext cx="2514600" cy="214884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8048" y="2542032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FF69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3017520"/>
            <a:ext cx="2103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800" b="1" i="0">
                <a:solidFill>
                  <a:srgbClr val="F2F7FF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8048" y="3493008"/>
            <a:ext cx="205740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Document evidence, impact, root cause, and remediation.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983480"/>
            <a:ext cx="10789920" cy="777240"/>
          </a:xfrm>
          <a:prstGeom prst="roundRect">
            <a:avLst>
              <a:gd name="adj" fmla="val 12000"/>
            </a:avLst>
          </a:prstGeom>
          <a:solidFill>
            <a:srgbClr val="17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184648"/>
            <a:ext cx="102412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Core principle: every conclusion should be reproducible and supported by captured evidence.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1D8E5"/>
                </a:solidFill>
                <a:latin typeface="Aptos"/>
              </a:defRPr>
            </a:pPr>
            <a:r>
              <a:t>02 / SCOPE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900" b="1" i="0">
                <a:solidFill>
                  <a:srgbClr val="F2F7FF"/>
                </a:solidFill>
                <a:latin typeface="Aptos"/>
              </a:defRPr>
            </a:pPr>
            <a:r>
              <a:t>Start with the request, understand the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The exercise uses intentionally vulnerable local training software and authorized testing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A4B7D3"/>
                </a:solidFill>
                <a:latin typeface="Aptos"/>
              </a:defRPr>
            </a:pPr>
            <a:r>
              <a:t>WEEK 7  •  WEB APPLICATION SECURITY TESTING  •  AUTHORIZED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31D8E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03120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64008" cy="2011680"/>
          </a:xfrm>
          <a:prstGeom prst="rect">
            <a:avLst/>
          </a:prstGeom>
          <a:solidFill>
            <a:srgbClr val="31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Practice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97479"/>
            <a:ext cx="2990088" cy="1298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A4B7D3"/>
                </a:solidFill>
                <a:latin typeface="Aptos"/>
              </a:defRPr>
            </a:pPr>
            <a:r>
              <a:t>DVWA / locally hosted authorized laboratory</a:t>
            </a:r>
            <a:br/>
            <a:br/>
            <a:r>
              <a:t>No third-party systems or real customer accounts.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03120"/>
            <a:ext cx="64008" cy="201168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26771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Primary &amp; supporting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697479"/>
            <a:ext cx="2990088" cy="1298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A4B7D3"/>
                </a:solidFill>
                <a:latin typeface="Aptos"/>
              </a:defRPr>
            </a:pPr>
            <a:r>
              <a:t>Burp Suite Community Edition</a:t>
            </a:r>
            <a:br/>
            <a:r>
              <a:t>OWASP ZAP</a:t>
            </a:r>
            <a:br/>
            <a:r>
              <a:t>Gobuster / Dirsearch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103120"/>
            <a:ext cx="3429000" cy="201168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103120"/>
            <a:ext cx="64008" cy="2011680"/>
          </a:xfrm>
          <a:prstGeom prst="rect">
            <a:avLst/>
          </a:prstGeom>
          <a:solidFill>
            <a:srgbClr val="62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2267712"/>
            <a:ext cx="3017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Assessment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97479"/>
            <a:ext cx="2990088" cy="1298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Reconnaissance</a:t>
            </a:r>
            <a:br/>
            <a:r>
              <a:t>HTTP interception</a:t>
            </a:r>
            <a:br/>
            <a:r>
              <a:t>Manual vulnerability testing</a:t>
            </a:r>
            <a:br/>
            <a:r>
              <a:t>Endpoint discovery</a:t>
            </a:r>
            <a:br/>
            <a:r>
              <a:t>Professional reporting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800" b="1" i="0">
                <a:solidFill>
                  <a:srgbClr val="F2F7FF"/>
                </a:solidFill>
                <a:latin typeface="Aptos"/>
              </a:defRPr>
            </a:pPr>
            <a:r>
              <a:t>HTTP request = method + path + parameters + headers + cookies + body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349240"/>
            <a:ext cx="101498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0" i="0">
                <a:solidFill>
                  <a:srgbClr val="A4B7D3"/>
                </a:solidFill>
                <a:latin typeface="Aptos"/>
              </a:defRPr>
            </a:pPr>
            <a:r>
              <a:t>Treat all client-controlled values as untrusted; authorization and business rules belong on the server.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1D8E5"/>
                </a:solidFill>
                <a:latin typeface="Aptos"/>
              </a:defRPr>
            </a:pPr>
            <a:r>
              <a:t>03 / BURP SUITE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900" b="1" i="0">
                <a:solidFill>
                  <a:srgbClr val="F2F7FF"/>
                </a:solidFill>
                <a:latin typeface="Aptos"/>
              </a:defRPr>
            </a:pPr>
            <a:r>
              <a:t>Put visibility between browser and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Burp Proxy exposes the traffic a normal browser interface hides.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A4B7D3"/>
                </a:solidFill>
                <a:latin typeface="Aptos"/>
              </a:defRPr>
            </a:pPr>
            <a:r>
              <a:t>WEEK 7  •  WEB APPLICATION SECURITY TESTING  •  AUTHORIZED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31D8E5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2971800" cy="132588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724912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 i="0">
                <a:solidFill>
                  <a:srgbClr val="31D8E5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182112"/>
            <a:ext cx="2651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0" i="0">
                <a:solidFill>
                  <a:srgbClr val="A4B7D3"/>
                </a:solidFill>
                <a:latin typeface="Aptos"/>
              </a:defRPr>
            </a:pPr>
            <a:r>
              <a:t>Generates 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468880"/>
            <a:ext cx="2971800" cy="132588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724912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 i="0">
                <a:solidFill>
                  <a:srgbClr val="FFB14A"/>
                </a:solidFill>
                <a:latin typeface="Aptos"/>
              </a:defRPr>
            </a:pPr>
            <a:r>
              <a:t>BURP PROXY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3182112"/>
            <a:ext cx="2651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0" i="0">
                <a:solidFill>
                  <a:srgbClr val="A4B7D3"/>
                </a:solidFill>
                <a:latin typeface="Aptos"/>
              </a:defRPr>
            </a:pPr>
            <a:r>
              <a:t>Intercept • inspect • forward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468880"/>
            <a:ext cx="2971800" cy="132588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2724912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 i="0">
                <a:solidFill>
                  <a:srgbClr val="62E0AA"/>
                </a:solidFill>
                <a:latin typeface="Aptos"/>
              </a:defRPr>
            </a:pPr>
            <a:r>
              <a:t>DVWA 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3182112"/>
            <a:ext cx="265176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0" i="0">
                <a:solidFill>
                  <a:srgbClr val="A4B7D3"/>
                </a:solidFill>
                <a:latin typeface="Aptos"/>
              </a:defRPr>
            </a:pPr>
            <a:r>
              <a:t>Processes request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3127248"/>
            <a:ext cx="640080" cy="0"/>
          </a:xfrm>
          <a:prstGeom prst="line">
            <a:avLst/>
          </a:prstGeom>
          <a:ln w="25400">
            <a:solidFill>
              <a:srgbClr val="31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89520" y="3127248"/>
            <a:ext cx="640080" cy="0"/>
          </a:xfrm>
          <a:prstGeom prst="line">
            <a:avLst/>
          </a:prstGeom>
          <a:ln w="25400">
            <a:solidFill>
              <a:srgbClr val="31D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4400" y="4343400"/>
            <a:ext cx="3063240" cy="118872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343400"/>
            <a:ext cx="64008" cy="1188720"/>
          </a:xfrm>
          <a:prstGeom prst="rect">
            <a:avLst/>
          </a:prstGeom>
          <a:solidFill>
            <a:srgbClr val="31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507992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Proxy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937760"/>
            <a:ext cx="262432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A4B7D3"/>
                </a:solidFill>
                <a:latin typeface="Aptos"/>
              </a:defRPr>
            </a:pPr>
            <a:r>
              <a:t>Capture and inspect HTTP/HTTPS traffic.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343400"/>
            <a:ext cx="3063240" cy="118872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26280" y="4343400"/>
            <a:ext cx="64008" cy="118872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4507992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HTTP History + Site 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937760"/>
            <a:ext cx="262432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A4B7D3"/>
                </a:solidFill>
                <a:latin typeface="Aptos"/>
              </a:defRPr>
            </a:pPr>
            <a:r>
              <a:t>Review requests and organize discovered resources.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343400"/>
            <a:ext cx="3063240" cy="118872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4343400"/>
            <a:ext cx="64008" cy="1188720"/>
          </a:xfrm>
          <a:prstGeom prst="rect">
            <a:avLst/>
          </a:prstGeom>
          <a:solidFill>
            <a:srgbClr val="62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4507992"/>
            <a:ext cx="26517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Repeater + Intruder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937760"/>
            <a:ext cx="2624328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300" b="0" i="0">
                <a:solidFill>
                  <a:srgbClr val="A4B7D3"/>
                </a:solidFill>
                <a:latin typeface="Aptos"/>
              </a:defRPr>
            </a:pPr>
            <a:r>
              <a:t>Repeat manual tests and perform limited, controlled variations.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1D8E5"/>
                </a:solidFill>
                <a:latin typeface="Aptos"/>
              </a:defRPr>
            </a:pPr>
            <a:r>
              <a:t>04 / RECONNAISSANCE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900" b="1" i="0">
                <a:solidFill>
                  <a:srgbClr val="F2F7FF"/>
                </a:solidFill>
                <a:latin typeface="Aptos"/>
              </a:defRPr>
            </a:pPr>
            <a:r>
              <a:t>Map the surface before testing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Reconnaissance reduces blind testing and reveals where security controls matter.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A4B7D3"/>
                </a:solidFill>
                <a:latin typeface="Aptos"/>
              </a:defRPr>
            </a:pPr>
            <a:r>
              <a:t>WEEK 7  •  WEB APPLICATION SECURITY TESTING  •  AUTHORIZED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31D8E5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103120"/>
            <a:ext cx="64008" cy="1143000"/>
          </a:xfrm>
          <a:prstGeom prst="rect">
            <a:avLst/>
          </a:prstGeom>
          <a:solidFill>
            <a:srgbClr val="31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79"/>
            <a:ext cx="463600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Login, logout, password recovery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03120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2103120"/>
            <a:ext cx="64008" cy="114300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67712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97479"/>
            <a:ext cx="463600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Search, profile, comment, upload forms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611879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611879"/>
            <a:ext cx="64008" cy="1143000"/>
          </a:xfrm>
          <a:prstGeom prst="rect">
            <a:avLst/>
          </a:prstGeom>
          <a:solidFill>
            <a:srgbClr val="62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776472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206240"/>
            <a:ext cx="463600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Parameters, cookies, session identifiers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611879"/>
            <a:ext cx="5074920" cy="114300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611879"/>
            <a:ext cx="64008" cy="1143000"/>
          </a:xfrm>
          <a:prstGeom prst="rect">
            <a:avLst/>
          </a:prstGeom>
          <a:solidFill>
            <a:srgbClr val="F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776472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Routes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206240"/>
            <a:ext cx="463600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APIs, admin paths, scripts, hidden endpoints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349240"/>
            <a:ext cx="10515600" cy="594360"/>
          </a:xfrm>
          <a:prstGeom prst="roundRect">
            <a:avLst>
              <a:gd name="adj" fmla="val 12000"/>
            </a:avLst>
          </a:prstGeom>
          <a:solidFill>
            <a:srgbClr val="17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513832"/>
            <a:ext cx="10149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1" i="0">
                <a:solidFill>
                  <a:srgbClr val="F2F7FF"/>
                </a:solidFill>
                <a:latin typeface="Aptos"/>
              </a:defRPr>
            </a:pPr>
            <a:r>
              <a:t>A discovered path is not automatically a vulnerability—verify its function and access controls.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1D8E5"/>
                </a:solidFill>
                <a:latin typeface="Aptos"/>
              </a:defRPr>
            </a:pPr>
            <a:r>
              <a:t>05 / TRUST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900" b="1" i="0">
                <a:solidFill>
                  <a:srgbClr val="F2F7FF"/>
                </a:solidFill>
                <a:latin typeface="Aptos"/>
              </a:defRPr>
            </a:pPr>
            <a:r>
              <a:t>Authentication is not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A user may be signed in and still not be permitted to access a particular resource.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A4B7D3"/>
                </a:solidFill>
                <a:latin typeface="Aptos"/>
              </a:defRPr>
            </a:pPr>
            <a:r>
              <a:t>WEEK 7  •  WEB APPLICATION SECURITY TESTING  •  AUTHORIZED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31D8E5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074920" cy="219456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64008" cy="2194560"/>
          </a:xfrm>
          <a:prstGeom prst="rect">
            <a:avLst/>
          </a:prstGeom>
          <a:solidFill>
            <a:srgbClr val="31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13432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4636008" cy="1481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A4B7D3"/>
                </a:solidFill>
                <a:latin typeface="Aptos"/>
              </a:defRPr>
            </a:pPr>
            <a:r>
              <a:t>Question: Who is the user?</a:t>
            </a:r>
            <a:br/>
            <a:br/>
            <a:r>
              <a:t>Review login request, response, redirects, session rotation, cookie attributes, logout behavior, and error messages.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48840"/>
            <a:ext cx="5074920" cy="219456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148840"/>
            <a:ext cx="64008" cy="219456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13432"/>
            <a:ext cx="46634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Authorization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4636008" cy="14813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A4B7D3"/>
                </a:solidFill>
                <a:latin typeface="Aptos"/>
              </a:defRPr>
            </a:pPr>
            <a:r>
              <a:t>Question: What may this user do?</a:t>
            </a:r>
            <a:br/>
            <a:br/>
            <a:r>
              <a:t>Check that the server validates access to each object, role, hidden field, and business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2000" b="1" i="0">
                <a:solidFill>
                  <a:srgbClr val="F2F7FF"/>
                </a:solidFill>
                <a:latin typeface="Aptos"/>
              </a:defRPr>
            </a:pPr>
            <a:r>
              <a:t>Never trust client-controlled IDs, roles, prices, quantities, or hidden fields.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1D8E5"/>
                </a:solidFill>
                <a:latin typeface="Aptos"/>
              </a:defRPr>
            </a:pPr>
            <a:r>
              <a:t>06 / MANUAL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900" b="1" i="0">
                <a:solidFill>
                  <a:srgbClr val="F2F7FF"/>
                </a:solidFill>
                <a:latin typeface="Aptos"/>
              </a:defRPr>
            </a:pPr>
            <a:r>
              <a:t>One controlled change. One clear comparison.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Burp Repeater supports repeatable request manipulation and evidence capture.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A4B7D3"/>
                </a:solidFill>
                <a:latin typeface="Aptos"/>
              </a:defRPr>
            </a:pPr>
            <a:r>
              <a:t>WEEK 7  •  WEB APPLICATION SECURITY TESTING  •  AUTHORIZED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31D8E5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057400"/>
            <a:ext cx="530352" cy="530352"/>
          </a:xfrm>
          <a:prstGeom prst="ellipse">
            <a:avLst/>
          </a:prstGeom>
          <a:solidFill>
            <a:srgbClr val="172D4F"/>
          </a:solidFill>
          <a:ln w="19050">
            <a:solidFill>
              <a:srgbClr val="3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5303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31D8E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75688"/>
            <a:ext cx="1920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F2F7FF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075688"/>
            <a:ext cx="7406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A4B7D3"/>
                </a:solidFill>
                <a:latin typeface="Aptos"/>
              </a:defRPr>
            </a:pPr>
            <a:r>
              <a:t>Capture a normal request and record the response.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907792"/>
            <a:ext cx="530352" cy="530352"/>
          </a:xfrm>
          <a:prstGeom prst="ellipse">
            <a:avLst/>
          </a:prstGeom>
          <a:solidFill>
            <a:srgbClr val="172D4F"/>
          </a:solidFill>
          <a:ln w="19050">
            <a:solidFill>
              <a:srgbClr val="3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44952"/>
            <a:ext cx="5303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31D8E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26080"/>
            <a:ext cx="1920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F2F7FF"/>
                </a:solidFill>
                <a:latin typeface="Aptos"/>
              </a:defRPr>
            </a:pPr>
            <a:r>
              <a:t>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926080"/>
            <a:ext cx="7406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A4B7D3"/>
                </a:solidFill>
                <a:latin typeface="Aptos"/>
              </a:defRPr>
            </a:pPr>
            <a:r>
              <a:t>Modify one parameter or input within the lab.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758184"/>
            <a:ext cx="530352" cy="530352"/>
          </a:xfrm>
          <a:prstGeom prst="ellipse">
            <a:avLst/>
          </a:prstGeom>
          <a:solidFill>
            <a:srgbClr val="172D4F"/>
          </a:solidFill>
          <a:ln w="19050">
            <a:solidFill>
              <a:srgbClr val="3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95344"/>
            <a:ext cx="5303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31D8E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776472"/>
            <a:ext cx="1920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F2F7FF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776472"/>
            <a:ext cx="7406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A4B7D3"/>
                </a:solidFill>
                <a:latin typeface="Aptos"/>
              </a:defRPr>
            </a:pPr>
            <a:r>
              <a:t>Review status, content, redirects, errors, and behavior.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608576"/>
            <a:ext cx="530352" cy="530352"/>
          </a:xfrm>
          <a:prstGeom prst="ellipse">
            <a:avLst/>
          </a:prstGeom>
          <a:solidFill>
            <a:srgbClr val="172D4F"/>
          </a:solidFill>
          <a:ln w="19050">
            <a:solidFill>
              <a:srgbClr val="3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45736"/>
            <a:ext cx="53035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200" b="1" i="0">
                <a:solidFill>
                  <a:srgbClr val="31D8E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626864"/>
            <a:ext cx="1920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600" b="1" i="0">
                <a:solidFill>
                  <a:srgbClr val="F2F7FF"/>
                </a:solidFill>
                <a:latin typeface="Aptos"/>
              </a:defRPr>
            </a:pPr>
            <a:r>
              <a:t>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74066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A4B7D3"/>
                </a:solidFill>
                <a:latin typeface="Aptos"/>
              </a:defRPr>
            </a:pPr>
            <a:r>
              <a:t>Save the request/response pair and explain what changed.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623560"/>
            <a:ext cx="10149840" cy="438912"/>
          </a:xfrm>
          <a:prstGeom prst="roundRect">
            <a:avLst>
              <a:gd name="adj" fmla="val 12000"/>
            </a:avLst>
          </a:prstGeom>
          <a:solidFill>
            <a:srgbClr val="17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724144"/>
            <a:ext cx="9875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1" i="0">
                <a:solidFill>
                  <a:srgbClr val="FFB14A"/>
                </a:solidFill>
                <a:latin typeface="Aptos"/>
              </a:defRPr>
            </a:pPr>
            <a:r>
              <a:t>Use Intruder conservatively: small test sets, low request volume, authorized target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1D8E5"/>
                </a:solidFill>
                <a:latin typeface="Aptos"/>
              </a:defRPr>
            </a:pPr>
            <a:r>
              <a:t>07 /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900" b="1" i="0">
                <a:solidFill>
                  <a:srgbClr val="F2F7FF"/>
                </a:solidFill>
                <a:latin typeface="Aptos"/>
              </a:defRPr>
            </a:pPr>
            <a:r>
              <a:t>Three examples of unsafe input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The report documents SQL Injection, Stored XSS, and Reflected XSS in the intentionally vulnerable lab.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A4B7D3"/>
                </a:solidFill>
                <a:latin typeface="Aptos"/>
              </a:defRPr>
            </a:pPr>
            <a:r>
              <a:t>WEEK 7  •  WEB APPLICATION SECURITY TESTING  •  AUTHORIZED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31D8E5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3520440" cy="251460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148840"/>
            <a:ext cx="64008" cy="2514600"/>
          </a:xfrm>
          <a:prstGeom prst="rect">
            <a:avLst/>
          </a:prstGeom>
          <a:solidFill>
            <a:srgbClr val="31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13432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SQL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3081528" cy="1801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Untrusted input changes the intended database query.</a:t>
            </a:r>
            <a:br/>
            <a:br/>
            <a:r>
              <a:t>Risk: unauthorized database access or modification, depending on privileges.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148840"/>
            <a:ext cx="3520440" cy="251460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148840"/>
            <a:ext cx="64008" cy="251460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313432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Stored XSS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43200"/>
            <a:ext cx="3081528" cy="1801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Untrusted content is saved and later rendered as executable browser content.</a:t>
            </a:r>
            <a:br/>
            <a:br/>
            <a:r>
              <a:t>Risk: impacts users who view the stored content.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2148840"/>
            <a:ext cx="3520440" cy="251460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2148840"/>
            <a:ext cx="64008" cy="2514600"/>
          </a:xfrm>
          <a:prstGeom prst="rect">
            <a:avLst/>
          </a:prstGeom>
          <a:solidFill>
            <a:srgbClr val="62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313432"/>
            <a:ext cx="31089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Reflected XSS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743200"/>
            <a:ext cx="3081528" cy="1801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Request data is returned to the browser without safe context-aware handling.</a:t>
            </a:r>
            <a:br/>
            <a:br/>
            <a:r>
              <a:t>Risk: script execution when a victim interacts with a crafted request.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66360"/>
            <a:ext cx="104241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600" b="1" i="0">
                <a:solidFill>
                  <a:srgbClr val="F2F7FF"/>
                </a:solidFill>
                <a:latin typeface="Aptos"/>
              </a:defRPr>
            </a:pPr>
            <a:r>
              <a:t>Lab proofs should be harmless, reproducible, and limited to demonstrating the behavior.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1D8E5"/>
                </a:solidFill>
                <a:latin typeface="Aptos"/>
              </a:defRPr>
            </a:pPr>
            <a:r>
              <a:t>08 /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900" b="1" i="0">
                <a:solidFill>
                  <a:srgbClr val="F2F7FF"/>
                </a:solidFill>
                <a:latin typeface="Aptos"/>
              </a:defRPr>
            </a:pPr>
            <a:r>
              <a:t>Combine tools, then validate what they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Automated discovery expands coverage; manual review determines whether a finding is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A4B7D3"/>
                </a:solidFill>
                <a:latin typeface="Aptos"/>
              </a:defRPr>
            </a:pPr>
            <a:r>
              <a:t>WEEK 7  •  WEB APPLICATION SECURITY TESTING  •  AUTHORIZED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31D8E5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3383280" cy="214884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64008" cy="2148840"/>
          </a:xfrm>
          <a:prstGeom prst="rect">
            <a:avLst/>
          </a:prstGeom>
          <a:solidFill>
            <a:srgbClr val="31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13432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Burp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2944368" cy="1435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 i="0">
                <a:solidFill>
                  <a:srgbClr val="A4B7D3"/>
                </a:solidFill>
                <a:latin typeface="Aptos"/>
              </a:defRPr>
            </a:pPr>
            <a:r>
              <a:t>Proxy + HTTP History</a:t>
            </a:r>
            <a:br/>
            <a:r>
              <a:t>Site Map</a:t>
            </a:r>
            <a:br/>
            <a:r>
              <a:t>Repeater</a:t>
            </a:r>
            <a:br/>
            <a:r>
              <a:t>Intruder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148840"/>
            <a:ext cx="3383280" cy="214884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2148840"/>
            <a:ext cx="64008" cy="214884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13432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Gobuster / Dirsearch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43200"/>
            <a:ext cx="2944368" cy="1435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Request candidate paths from a wordlist to help identify unlinked or overlooked endpoints.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48840"/>
            <a:ext cx="3383280" cy="214884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148840"/>
            <a:ext cx="64008" cy="2148840"/>
          </a:xfrm>
          <a:prstGeom prst="rect">
            <a:avLst/>
          </a:prstGeom>
          <a:solidFill>
            <a:srgbClr val="62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313432"/>
            <a:ext cx="2971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OWASP ZAP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743200"/>
            <a:ext cx="2944368" cy="1435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Spidering and scanner alerts provide supporting signals; review and reproduce before confirmation.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892040"/>
            <a:ext cx="10332720" cy="731520"/>
          </a:xfrm>
          <a:prstGeom prst="roundRect">
            <a:avLst>
              <a:gd name="adj" fmla="val 12000"/>
            </a:avLst>
          </a:prstGeom>
          <a:solidFill>
            <a:srgbClr val="172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5093208"/>
            <a:ext cx="9875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800" b="1" i="0">
                <a:solidFill>
                  <a:srgbClr val="F2F7FF"/>
                </a:solidFill>
                <a:latin typeface="Aptos"/>
              </a:defRPr>
            </a:pPr>
            <a:r>
              <a:t>Scanner output ≠ confirmed vulnerability  |  HTTP 200 ≠ security flaw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9144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100" b="1" i="0">
                <a:solidFill>
                  <a:srgbClr val="31D8E5"/>
                </a:solidFill>
                <a:latin typeface="Aptos"/>
              </a:defRPr>
            </a:pPr>
            <a:r>
              <a:t>09 /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2900" b="1" i="0">
                <a:solidFill>
                  <a:srgbClr val="F2F7FF"/>
                </a:solidFill>
                <a:latin typeface="Aptos"/>
              </a:defRPr>
            </a:pPr>
            <a:r>
              <a:t>Turn technical observations into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89888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A professional finding connects proof to impact, root cause, and a practical 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A4B7D3"/>
                </a:solidFill>
                <a:latin typeface="Aptos"/>
              </a:defRPr>
            </a:pPr>
            <a:r>
              <a:t>WEEK 7  •  WEB APPLICATION SECURITY TESTING  •  AUTHORIZED 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31D8E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240280"/>
            <a:ext cx="2560320" cy="164592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240280"/>
            <a:ext cx="64008" cy="1645920"/>
          </a:xfrm>
          <a:prstGeom prst="rect">
            <a:avLst/>
          </a:prstGeom>
          <a:solidFill>
            <a:srgbClr val="31D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04872"/>
            <a:ext cx="21488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34640"/>
            <a:ext cx="2121408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Request/response, input, observed behavior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93591" y="2240280"/>
            <a:ext cx="2560320" cy="164592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93591" y="2240280"/>
            <a:ext cx="64008" cy="1645920"/>
          </a:xfrm>
          <a:prstGeom prst="rect">
            <a:avLst/>
          </a:prstGeom>
          <a:solidFill>
            <a:srgbClr val="FFB1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2404872"/>
            <a:ext cx="21488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834640"/>
            <a:ext cx="2121408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What could happen, within this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3952" y="2240280"/>
            <a:ext cx="2560320" cy="164592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3952" y="2240280"/>
            <a:ext cx="64008" cy="1645920"/>
          </a:xfrm>
          <a:prstGeom prst="rect">
            <a:avLst/>
          </a:prstGeom>
          <a:solidFill>
            <a:srgbClr val="F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2552" y="2404872"/>
            <a:ext cx="21488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ROOT CAUSE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2834640"/>
            <a:ext cx="2121408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Why the control failed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54311" y="2240280"/>
            <a:ext cx="2560320" cy="1645920"/>
          </a:xfrm>
          <a:prstGeom prst="roundRect">
            <a:avLst>
              <a:gd name="adj" fmla="val 12000"/>
            </a:avLst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54311" y="2240280"/>
            <a:ext cx="64008" cy="1645920"/>
          </a:xfrm>
          <a:prstGeom prst="rect">
            <a:avLst/>
          </a:prstGeom>
          <a:solidFill>
            <a:srgbClr val="62E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1" y="2404872"/>
            <a:ext cx="214883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700" b="1" i="0">
                <a:solidFill>
                  <a:srgbClr val="F2F7FF"/>
                </a:solidFill>
                <a:latin typeface="Aptos"/>
              </a:defRPr>
            </a:pPr>
            <a:r>
              <a:t>REMEDIATION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82911" y="2834640"/>
            <a:ext cx="2121408" cy="9326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400" b="0" i="0">
                <a:solidFill>
                  <a:srgbClr val="A4B7D3"/>
                </a:solidFill>
                <a:latin typeface="Aptos"/>
              </a:defRPr>
            </a:pPr>
            <a:r>
              <a:t>Specific mitigation and retesting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17720"/>
            <a:ext cx="1033272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700" b="1" i="0">
                <a:solidFill>
                  <a:srgbClr val="31D8E5"/>
                </a:solidFill>
                <a:latin typeface="Aptos"/>
              </a:defRPr>
            </a:pPr>
            <a:r>
              <a:t>Remediation examples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74920"/>
            <a:ext cx="10332720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500" b="0" i="0">
                <a:solidFill>
                  <a:srgbClr val="F2F7FF"/>
                </a:solidFill>
                <a:latin typeface="Aptos"/>
              </a:defRPr>
            </a:pPr>
            <a:r>
              <a:t>SQLi → prepared statements  •  XSS → contextual output encoding  •  Tampering → server-side authorization  •  Exposure → remove unused paths and enforce access controls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43600"/>
            <a:ext cx="10332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300" b="0" i="0">
                <a:solidFill>
                  <a:srgbClr val="A4B7D3"/>
                </a:solidFill>
                <a:latin typeface="Aptos"/>
              </a:defRPr>
            </a:pPr>
            <a:r>
              <a:t>Retest after fixes; document limitations and avoid overstating scanner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9144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200" b="1" i="0">
                <a:solidFill>
                  <a:srgbClr val="31D8E5"/>
                </a:solidFill>
                <a:latin typeface="Aptos"/>
              </a:defRPr>
            </a:pPr>
            <a:r>
              <a:t>WEEK 07  /  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1069848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3400" b="1" i="0">
                <a:solidFill>
                  <a:srgbClr val="F2F7FF"/>
                </a:solidFill>
                <a:latin typeface="Aptos"/>
              </a:defRPr>
            </a:pPr>
            <a:r>
              <a:t>Tools reveal behavior.</a:t>
            </a:r>
            <a:br/>
            <a:r>
              <a:t>Evidence earns trust.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87552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900" b="0" i="0">
                <a:solidFill>
                  <a:srgbClr val="A4B7D3"/>
                </a:solidFill>
                <a:latin typeface="Aptos"/>
              </a:defRPr>
            </a:pPr>
            <a:r>
              <a:t>This exercise connected reconnaissance, HTTP interception, manual validation, endpoint discovery, and professional reporting into one repeatable VAPT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709160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09142B"/>
          </a:solidFill>
          <a:ln w="15240">
            <a:solidFill>
              <a:srgbClr val="31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82896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 i="0">
                <a:solidFill>
                  <a:srgbClr val="31D8E5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709160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09142B"/>
          </a:solidFill>
          <a:ln w="15240">
            <a:solidFill>
              <a:srgbClr val="FFB1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4882896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 i="0">
                <a:solidFill>
                  <a:srgbClr val="FFB14A"/>
                </a:solidFill>
                <a:latin typeface="Aptos"/>
              </a:defRPr>
            </a:pPr>
            <a:r>
              <a:t>PRACTICE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709160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09142B"/>
          </a:solidFill>
          <a:ln w="15240">
            <a:solidFill>
              <a:srgbClr val="62E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4882896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 i="0">
                <a:solidFill>
                  <a:srgbClr val="62E0AA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4709160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09142B"/>
          </a:solidFill>
          <a:ln w="15240">
            <a:solidFill>
              <a:srgbClr val="FF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4882896"/>
            <a:ext cx="20574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defRPr sz="1400" b="1" i="0">
                <a:solidFill>
                  <a:srgbClr val="FF6978"/>
                </a:solidFill>
                <a:latin typeface="Aptos"/>
              </a:defRPr>
            </a:pPr>
            <a:r>
              <a:t>SECURE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1" i="0">
                <a:solidFill>
                  <a:srgbClr val="F2F7FF"/>
                </a:solidFill>
                <a:latin typeface="Aptos"/>
              </a:defRPr>
            </a:pPr>
            <a:r>
              <a:t>Thank you  •  Questions &amp; discussion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800" b="1" i="0">
                <a:solidFill>
                  <a:srgbClr val="A4B7D3"/>
                </a:solidFill>
                <a:latin typeface="Aptos"/>
              </a:defRPr>
            </a:pPr>
            <a:r>
              <a:t>AUTHORIZED LAB USE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4572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defRPr sz="1000" b="1" i="0">
                <a:solidFill>
                  <a:srgbClr val="31D8E5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